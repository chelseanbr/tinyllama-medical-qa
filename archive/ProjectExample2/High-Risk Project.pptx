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d1a0ea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d1a0ea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Aim of the project is to summarize long texts.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en" sz="1800">
                <a:solidFill>
                  <a:srgbClr val="595959"/>
                </a:solidFill>
              </a:rPr>
              <a:t>MAny uses in healthcare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d0d1a0ea1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d0d1a0ea1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0d1a0ea1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0d1a0ea1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0d1a0ea1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0d1a0ea1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0d1a0ea1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0d1a0ea1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0d1a0ea1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0d1a0ea1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summarization is a tricky problem to solve. And we cannot analyze performance as there isn’t a way to generate accuracy without labels. The method proposed in the article was not only able to generate a detailed summary but it was also able to split text into </a:t>
            </a:r>
            <a:r>
              <a:rPr lang="en"/>
              <a:t>different</a:t>
            </a:r>
            <a:r>
              <a:rPr lang="en"/>
              <a:t> topics with corresponding summaries.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</a:t>
            </a:r>
            <a:r>
              <a:rPr lang="en"/>
              <a:t> improvements could be creating a separate chunk for each interview question (this can retain the information and context of a topic which is an interview question in one chunk) and using them as inputs to LLM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interview question and each participant's reply as one chunk so this can retain every information of that idea in one chunk.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0d1a0ea1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0d1a0ea1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		 	 	 		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			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				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					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2489"/>
              <a:buFont typeface="Arial"/>
              <a:buNone/>
            </a:pPr>
            <a:r>
              <a:t/>
            </a:r>
            <a:endParaRPr sz="2588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				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			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		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39130"/>
              <a:buFont typeface="Arial"/>
              <a:buNone/>
            </a:pPr>
            <a:r>
              <a:rPr b="1" lang="en" sz="2811"/>
              <a:t>Text summarization techniques using LLMs on patient interview transcripts post pediatric heart surgery </a:t>
            </a:r>
            <a:endParaRPr b="1" sz="5422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523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Shivani Betu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Advantages of text summarization: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Save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Improve </a:t>
            </a:r>
            <a:r>
              <a:rPr lang="en"/>
              <a:t>readability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Ignore unwanted information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healthcare - summarize patient notes, patient interviews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News websites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Book summaries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Used, Objective of the Project and Approaches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used: Interview transcripts of patients and their parents post pediatric heart surgery.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83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Objective: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Summarize main topics capturing emotions of the participants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 insights into medical gaps and outcomes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Approaches: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map-reduce summarization of text without chunk overlap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map-reduce summarization of text with chunk overlap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map-reduce summarization of text with chunk overlap using custom prompts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passing summary of previous chunk in current chunk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title and summary generation of individual chunks in-order to generate final summary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69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Raw data is split into sentences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1600"/>
              <a:t>each sentence having a minimum of 20 words and a maximum of 80 words</a:t>
            </a:r>
            <a:endParaRPr sz="16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limiting the chunk size to be the number of sentences it usually takes to express an idea.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5 sentences with a 1 sentence overlap between chunks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6080925" y="445025"/>
            <a:ext cx="1966700" cy="1057125"/>
          </a:xfrm>
          <a:prstGeom prst="flowChartPunchedTap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text</a:t>
            </a:r>
            <a:endParaRPr/>
          </a:p>
        </p:txBody>
      </p:sp>
      <p:cxnSp>
        <p:nvCxnSpPr>
          <p:cNvPr id="75" name="Google Shape;75;p16"/>
          <p:cNvCxnSpPr/>
          <p:nvPr/>
        </p:nvCxnSpPr>
        <p:spPr>
          <a:xfrm>
            <a:off x="7078500" y="1349740"/>
            <a:ext cx="0" cy="74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" name="Google Shape;76;p16"/>
          <p:cNvSpPr/>
          <p:nvPr/>
        </p:nvSpPr>
        <p:spPr>
          <a:xfrm>
            <a:off x="6137450" y="2113619"/>
            <a:ext cx="1910100" cy="655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sentences from raw text</a:t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591450" y="3380600"/>
            <a:ext cx="791100" cy="747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6699300" y="3441525"/>
            <a:ext cx="791100" cy="747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6817775" y="3526100"/>
            <a:ext cx="791100" cy="747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6925550" y="3599400"/>
            <a:ext cx="791100" cy="747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7020850" y="3661375"/>
            <a:ext cx="846000" cy="7470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chunks</a:t>
            </a:r>
            <a:endParaRPr/>
          </a:p>
        </p:txBody>
      </p:sp>
      <p:cxnSp>
        <p:nvCxnSpPr>
          <p:cNvPr id="82" name="Google Shape;82;p16"/>
          <p:cNvCxnSpPr/>
          <p:nvPr/>
        </p:nvCxnSpPr>
        <p:spPr>
          <a:xfrm flipH="1">
            <a:off x="7078400" y="2757816"/>
            <a:ext cx="14100" cy="62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6"/>
          <p:cNvSpPr txBox="1"/>
          <p:nvPr/>
        </p:nvSpPr>
        <p:spPr>
          <a:xfrm>
            <a:off x="5379775" y="1605000"/>
            <a:ext cx="16629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split to sentences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379775" y="2891413"/>
            <a:ext cx="16629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g</a:t>
            </a:r>
            <a:r>
              <a:rPr lang="en" sz="1300">
                <a:solidFill>
                  <a:schemeClr val="dk2"/>
                </a:solidFill>
              </a:rPr>
              <a:t>roup</a:t>
            </a:r>
            <a:r>
              <a:rPr lang="en" sz="1300">
                <a:solidFill>
                  <a:schemeClr val="dk2"/>
                </a:solidFill>
              </a:rPr>
              <a:t> sentences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388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3175"/>
            <a:ext cx="8839204" cy="2339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575" y="3173375"/>
            <a:ext cx="1845550" cy="184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7925" y="4076925"/>
            <a:ext cx="5826800" cy="36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7"/>
          <p:cNvCxnSpPr/>
          <p:nvPr/>
        </p:nvCxnSpPr>
        <p:spPr>
          <a:xfrm flipH="1" rot="10800000">
            <a:off x="5589075" y="3089975"/>
            <a:ext cx="9600" cy="9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7"/>
          <p:cNvCxnSpPr/>
          <p:nvPr/>
        </p:nvCxnSpPr>
        <p:spPr>
          <a:xfrm rot="10800000">
            <a:off x="2758275" y="3492775"/>
            <a:ext cx="1620000" cy="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7"/>
          <p:cNvCxnSpPr/>
          <p:nvPr/>
        </p:nvCxnSpPr>
        <p:spPr>
          <a:xfrm>
            <a:off x="4368600" y="3070600"/>
            <a:ext cx="0" cy="4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7"/>
          <p:cNvCxnSpPr/>
          <p:nvPr/>
        </p:nvCxnSpPr>
        <p:spPr>
          <a:xfrm>
            <a:off x="2750950" y="3758350"/>
            <a:ext cx="2082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7"/>
          <p:cNvCxnSpPr/>
          <p:nvPr/>
        </p:nvCxnSpPr>
        <p:spPr>
          <a:xfrm>
            <a:off x="4833525" y="3768025"/>
            <a:ext cx="0" cy="3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7"/>
          <p:cNvSpPr txBox="1"/>
          <p:nvPr/>
        </p:nvSpPr>
        <p:spPr>
          <a:xfrm>
            <a:off x="3214163" y="3244900"/>
            <a:ext cx="1327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Similarity matrix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2783175" y="3758350"/>
            <a:ext cx="20253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Community detection </a:t>
            </a:r>
            <a:r>
              <a:rPr lang="en" sz="1000">
                <a:solidFill>
                  <a:schemeClr val="dk1"/>
                </a:solidFill>
              </a:rPr>
              <a:t>algorithm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96950" y="1152475"/>
            <a:ext cx="2694900" cy="38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Retrieve 10 topic titles from raw text (first figure on the right)</a:t>
            </a:r>
            <a:endParaRPr sz="1600"/>
          </a:p>
          <a:p>
            <a:pPr indent="-3302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Can use one of the 10 topics to </a:t>
            </a:r>
            <a:r>
              <a:rPr lang="en" sz="1600"/>
              <a:t>retrieve</a:t>
            </a:r>
            <a:r>
              <a:rPr lang="en" sz="1600"/>
              <a:t> summary of each topic.</a:t>
            </a:r>
            <a:endParaRPr sz="1600"/>
          </a:p>
          <a:p>
            <a:pPr indent="-3302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Overall summary of the raw text (second figure on the right)</a:t>
            </a:r>
            <a:endParaRPr sz="1600"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313" y="361700"/>
            <a:ext cx="6106576" cy="150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0175" y="2057150"/>
            <a:ext cx="6188851" cy="291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Future Improvements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Conclusion: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595959"/>
                </a:solidFill>
              </a:rPr>
              <a:t>The method proposed in the article was not only able to generate a detailed summary but it was also able to split text into different topics with corresponding summaries.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Potential</a:t>
            </a:r>
            <a:r>
              <a:rPr lang="en"/>
              <a:t> future improvements: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human summarizations, compare these </a:t>
            </a:r>
            <a:r>
              <a:rPr lang="en"/>
              <a:t>results</a:t>
            </a:r>
            <a:r>
              <a:rPr lang="en"/>
              <a:t> against them using similarity scores to see how good the results are and tweek the prompts.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cleaning and creating chunks: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creating a separate chunk for each interview question and using them as inputs to LLM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interview question and each participant's reply as one chunk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2101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